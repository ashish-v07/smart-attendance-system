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6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0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2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4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9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873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39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224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5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46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4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1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Using Face Recognition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Overview</a:t>
            </a:r>
            <a:r>
              <a:rPr dirty="0"/>
              <a:t>: A modern, automated web-based application designed to streamline attendance tracking.</a:t>
            </a:r>
          </a:p>
          <a:p>
            <a:pPr lvl="1"/>
            <a:r>
              <a:rPr b="1" dirty="0"/>
              <a:t>Core Objective</a:t>
            </a:r>
            <a:r>
              <a:rPr dirty="0"/>
              <a:t>: Eliminate manual roll-calls and proxy attendance.</a:t>
            </a:r>
          </a:p>
          <a:p>
            <a:pPr lvl="1"/>
            <a:r>
              <a:rPr dirty="0"/>
              <a:t>Leverages advanced biometric face recognition and liveness detection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b="1" dirty="0"/>
              <a:t>Technology Stack</a:t>
            </a:r>
            <a:r>
              <a:rPr dirty="0" smtClean="0"/>
              <a:t>:</a:t>
            </a:r>
            <a:endParaRPr lang="en-US" dirty="0" smtClean="0"/>
          </a:p>
          <a:p>
            <a:pPr lvl="1"/>
            <a:r>
              <a:rPr lang="en-US" b="1" dirty="0" smtClean="0"/>
              <a:t>Frontend</a:t>
            </a:r>
            <a:r>
              <a:rPr lang="en-US" dirty="0" smtClean="0"/>
              <a:t>: HTML,CSS(BOOTSTRAP),JS</a:t>
            </a:r>
            <a:endParaRPr dirty="0"/>
          </a:p>
          <a:p>
            <a:pPr lvl="1"/>
            <a:r>
              <a:rPr b="1" dirty="0"/>
              <a:t>Backend</a:t>
            </a:r>
            <a:r>
              <a:rPr dirty="0"/>
              <a:t>: Python, Flask Framework</a:t>
            </a:r>
          </a:p>
          <a:p>
            <a:pPr lvl="1"/>
            <a:r>
              <a:rPr b="1" dirty="0"/>
              <a:t>Database</a:t>
            </a:r>
            <a:r>
              <a:rPr dirty="0"/>
              <a:t>: MySQL</a:t>
            </a:r>
          </a:p>
          <a:p>
            <a:pPr lvl="1"/>
            <a:r>
              <a:rPr b="1" dirty="0"/>
              <a:t>AI/CV Engine</a:t>
            </a:r>
            <a:r>
              <a:rPr dirty="0"/>
              <a:t>: </a:t>
            </a:r>
            <a:r>
              <a:rPr dirty="0" err="1" smtClean="0"/>
              <a:t>Open</a:t>
            </a:r>
            <a:r>
              <a:rPr lang="en-US" dirty="0" err="1" smtClean="0"/>
              <a:t>CV</a:t>
            </a:r>
            <a:r>
              <a:rPr dirty="0" smtClean="0"/>
              <a:t>, </a:t>
            </a:r>
            <a:r>
              <a:rPr dirty="0" err="1"/>
              <a:t>face_recognition</a:t>
            </a:r>
            <a:r>
              <a:rPr dirty="0"/>
              <a:t> (</a:t>
            </a:r>
            <a:r>
              <a:rPr dirty="0" err="1"/>
              <a:t>dlib</a:t>
            </a:r>
            <a:r>
              <a:rPr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Organization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Institution Name</a:t>
            </a:r>
            <a:r>
              <a:rPr sz="2000" dirty="0"/>
              <a:t>: </a:t>
            </a:r>
            <a:r>
              <a:rPr lang="en-US" sz="2000" dirty="0" smtClean="0"/>
              <a:t>Indus University</a:t>
            </a:r>
            <a:endParaRPr sz="2000" dirty="0"/>
          </a:p>
          <a:p>
            <a:r>
              <a:rPr sz="2000" b="1" dirty="0"/>
              <a:t>Department</a:t>
            </a:r>
            <a:r>
              <a:rPr sz="2000" dirty="0"/>
              <a:t>: </a:t>
            </a:r>
            <a:r>
              <a:rPr lang="en-US" sz="2000" dirty="0" smtClean="0"/>
              <a:t>IICT</a:t>
            </a:r>
          </a:p>
          <a:p>
            <a:r>
              <a:rPr lang="en-US" sz="2000" b="1" dirty="0" smtClean="0"/>
              <a:t>Course/Sem. : </a:t>
            </a:r>
            <a:r>
              <a:rPr lang="en-US" sz="2000" dirty="0" smtClean="0"/>
              <a:t>MSC-IT / 3 - C</a:t>
            </a:r>
            <a:endParaRPr sz="2000" b="1" dirty="0"/>
          </a:p>
          <a:p>
            <a:r>
              <a:rPr sz="2000" b="1" dirty="0"/>
              <a:t>Project Guide/Mentor</a:t>
            </a:r>
            <a:r>
              <a:rPr sz="2000" dirty="0"/>
              <a:t>: </a:t>
            </a:r>
            <a:r>
              <a:rPr lang="en-US" sz="2000" dirty="0" smtClean="0"/>
              <a:t>Ms. </a:t>
            </a:r>
            <a:r>
              <a:rPr lang="en-US" sz="2000" dirty="0" err="1" smtClean="0"/>
              <a:t>Archana</a:t>
            </a:r>
            <a:r>
              <a:rPr lang="en-US" sz="2000" dirty="0" smtClean="0"/>
              <a:t> Srivastava</a:t>
            </a:r>
            <a:endParaRPr sz="2000" dirty="0"/>
          </a:p>
          <a:p>
            <a:r>
              <a:rPr sz="2000" b="1" dirty="0"/>
              <a:t>Team Members:</a:t>
            </a:r>
            <a:r>
              <a:rPr sz="2000" dirty="0"/>
              <a:t> </a:t>
            </a:r>
            <a:endParaRPr lang="en-US" sz="2000" dirty="0" smtClean="0"/>
          </a:p>
          <a:p>
            <a:pPr lvl="1"/>
            <a:r>
              <a:rPr lang="en-US" sz="2000" dirty="0" err="1" smtClean="0"/>
              <a:t>Yash</a:t>
            </a:r>
            <a:r>
              <a:rPr lang="en-US" sz="2000" dirty="0" smtClean="0"/>
              <a:t> </a:t>
            </a:r>
            <a:r>
              <a:rPr lang="en-US" sz="2000" dirty="0" err="1" smtClean="0"/>
              <a:t>Italiya</a:t>
            </a:r>
            <a:r>
              <a:rPr lang="en-US" sz="2000" dirty="0" smtClean="0"/>
              <a:t>		</a:t>
            </a:r>
            <a:r>
              <a:rPr lang="en-US" sz="2000" dirty="0" smtClean="0"/>
              <a:t>        : </a:t>
            </a:r>
            <a:r>
              <a:rPr lang="en-US" sz="2000" dirty="0" smtClean="0"/>
              <a:t>[IU2554100005]</a:t>
            </a:r>
          </a:p>
          <a:p>
            <a:pPr lvl="1"/>
            <a:r>
              <a:rPr lang="en-US" sz="2000" dirty="0" smtClean="0"/>
              <a:t>Ashish </a:t>
            </a:r>
            <a:r>
              <a:rPr lang="en-US" sz="2000" dirty="0" err="1" smtClean="0"/>
              <a:t>Vaghasiya</a:t>
            </a:r>
            <a:r>
              <a:rPr lang="en-US" sz="2000" dirty="0" smtClean="0"/>
              <a:t>		: [IU2554100015]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Manual Roll-Call:</a:t>
            </a:r>
          </a:p>
          <a:p>
            <a:pPr lvl="1"/>
            <a:r>
              <a:rPr sz="2000" dirty="0"/>
              <a:t>Faculty calling names or passing around sheets during class</a:t>
            </a:r>
            <a:r>
              <a:rPr sz="2000" dirty="0" smtClean="0"/>
              <a:t>.</a:t>
            </a:r>
            <a:endParaRPr lang="en-US" sz="2000" dirty="0" smtClean="0"/>
          </a:p>
          <a:p>
            <a:pPr lvl="1"/>
            <a:endParaRPr sz="2000" dirty="0"/>
          </a:p>
          <a:p>
            <a:r>
              <a:rPr sz="2000" b="1" dirty="0"/>
              <a:t>Legacy ERP Entry:</a:t>
            </a:r>
          </a:p>
          <a:p>
            <a:pPr lvl="1"/>
            <a:r>
              <a:rPr sz="2000" dirty="0"/>
              <a:t>Faculty manually entering data into portals after class</a:t>
            </a:r>
            <a:r>
              <a:rPr sz="2000" dirty="0" smtClean="0"/>
              <a:t>.</a:t>
            </a:r>
            <a:endParaRPr lang="en-US" sz="2000" dirty="0" smtClean="0"/>
          </a:p>
          <a:p>
            <a:pPr lvl="1"/>
            <a:endParaRPr sz="2000" dirty="0"/>
          </a:p>
          <a:p>
            <a:r>
              <a:rPr sz="2000" b="1" dirty="0"/>
              <a:t>Traditional Biometrics:</a:t>
            </a:r>
          </a:p>
          <a:p>
            <a:pPr lvl="1"/>
            <a:r>
              <a:rPr sz="2000" dirty="0"/>
              <a:t>Shared RFID cards or fingerprint scanners at classroom doors.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Areas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Time Consumption: </a:t>
            </a:r>
            <a:r>
              <a:rPr dirty="0"/>
              <a:t>Wastes 5-10 minutes of valuable instructional time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  <a:p>
            <a:r>
              <a:rPr b="1" dirty="0"/>
              <a:t>Proxy Attendance</a:t>
            </a:r>
            <a:r>
              <a:rPr dirty="0"/>
              <a:t>: High risk of buddy punching (fake attendance</a:t>
            </a:r>
            <a:r>
              <a:rPr dirty="0" smtClean="0"/>
              <a:t>).</a:t>
            </a:r>
            <a:endParaRPr lang="en-US" dirty="0" smtClean="0"/>
          </a:p>
          <a:p>
            <a:endParaRPr dirty="0"/>
          </a:p>
          <a:p>
            <a:r>
              <a:rPr b="1" dirty="0"/>
              <a:t>Administrative Burden: </a:t>
            </a:r>
            <a:r>
              <a:rPr dirty="0"/>
              <a:t>Manual percentage calculations and absentee management</a:t>
            </a:r>
            <a:r>
              <a:rPr dirty="0" smtClean="0"/>
              <a:t>.</a:t>
            </a:r>
            <a:endParaRPr lang="en-US" dirty="0" smtClean="0"/>
          </a:p>
          <a:p>
            <a:endParaRPr dirty="0"/>
          </a:p>
          <a:p>
            <a:r>
              <a:rPr b="1" dirty="0"/>
              <a:t>Hygiene &amp; Bottlenecks: </a:t>
            </a:r>
            <a:r>
              <a:rPr dirty="0"/>
              <a:t>Fingerprint scanners create long queues and pose hygiene concerns.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Need for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b="1" dirty="0"/>
              <a:t>Complete Automation:</a:t>
            </a:r>
          </a:p>
          <a:p>
            <a:pPr lvl="1"/>
            <a:r>
              <a:rPr dirty="0"/>
              <a:t>Zero-touch, self-service attendance linked to live class schedules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Uncompromised Security:</a:t>
            </a:r>
          </a:p>
          <a:p>
            <a:pPr lvl="1"/>
            <a:r>
              <a:rPr dirty="0"/>
              <a:t>Advanced anti-spoofing pipeline ensures strict liveness detection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High Precision Accuracy:</a:t>
            </a:r>
          </a:p>
          <a:p>
            <a:pPr lvl="1"/>
            <a:r>
              <a:rPr dirty="0"/>
              <a:t>Deep learning-based 128-d face encodings provide highly accurate matches</a:t>
            </a:r>
            <a:r>
              <a:rPr dirty="0" smtClean="0"/>
              <a:t>.</a:t>
            </a:r>
            <a:endParaRPr lang="en-US" dirty="0" smtClean="0"/>
          </a:p>
          <a:p>
            <a:pPr lvl="1"/>
            <a:endParaRPr dirty="0"/>
          </a:p>
          <a:p>
            <a:r>
              <a:rPr sz="1600" b="1" dirty="0"/>
              <a:t>Real-Time Analytics</a:t>
            </a:r>
            <a:r>
              <a:rPr sz="1600" dirty="0"/>
              <a:t>:</a:t>
            </a:r>
          </a:p>
          <a:p>
            <a:pPr lvl="1"/>
            <a:r>
              <a:rPr dirty="0"/>
              <a:t>Instant, role-based dashboards for students and faculty.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2740747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6600" b="1" dirty="0"/>
              <a:t>System Flow</a:t>
            </a:r>
            <a:r>
              <a:rPr lang="en-US" sz="6600" b="1" dirty="0"/>
              <a:t> Diagram</a:t>
            </a:r>
            <a:endParaRPr sz="6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34312" y="1417331"/>
            <a:ext cx="1645920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Calibri"/>
              </a:rPr>
              <a:t>1. Setup &amp; Registration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80032" y="172466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1F5FE"/>
          </a:solidFill>
          <a:ln w="12700">
            <a:solidFill>
              <a:srgbClr val="028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dirty="0">
                <a:solidFill>
                  <a:srgbClr val="212121"/>
                </a:solidFill>
                <a:latin typeface="Calibri"/>
              </a:rPr>
              <a:t>Admin creates classes &amp; registers </a:t>
            </a:r>
            <a:r>
              <a:rPr sz="1050" dirty="0">
                <a:solidFill>
                  <a:srgbClr val="212121"/>
                </a:solidFill>
                <a:latin typeface="Calibri"/>
              </a:rPr>
              <a:t>users</a:t>
            </a:r>
            <a:endParaRPr sz="1050" dirty="0">
              <a:solidFill>
                <a:srgbClr val="212121"/>
              </a:solidFill>
              <a:latin typeface="Calibri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557271" y="2684780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80032" y="30688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050" dirty="0">
                <a:solidFill>
                  <a:srgbClr val="212121"/>
                </a:solidFill>
                <a:latin typeface="Calibri"/>
              </a:rPr>
              <a:t>Admin</a:t>
            </a:r>
            <a:r>
              <a:rPr sz="1050" dirty="0">
                <a:solidFill>
                  <a:srgbClr val="212121"/>
                </a:solidFill>
                <a:latin typeface="Calibri"/>
              </a:rPr>
              <a:t> upload</a:t>
            </a:r>
            <a:r>
              <a:rPr lang="en-US" sz="1050" dirty="0">
                <a:solidFill>
                  <a:srgbClr val="212121"/>
                </a:solidFill>
                <a:latin typeface="Calibri"/>
              </a:rPr>
              <a:t> students</a:t>
            </a:r>
            <a:r>
              <a:rPr sz="1050" dirty="0">
                <a:solidFill>
                  <a:srgbClr val="212121"/>
                </a:solidFill>
                <a:latin typeface="Calibri"/>
              </a:rPr>
              <a:t> </a:t>
            </a:r>
            <a:r>
              <a:rPr sz="1050" dirty="0">
                <a:solidFill>
                  <a:srgbClr val="212121"/>
                </a:solidFill>
                <a:latin typeface="Calibri"/>
              </a:rPr>
              <a:t>photo for face registration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57271" y="4028948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80032" y="4412996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128-d face vector extracted &amp; stored in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3948" y="1417331"/>
            <a:ext cx="1645920" cy="2616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Calibri"/>
              </a:rPr>
              <a:t>2. Live Class Activation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9667" y="172466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1F5FE"/>
          </a:solidFill>
          <a:ln w="12700">
            <a:solidFill>
              <a:srgbClr val="028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Faculty logs into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16908" y="2684780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9667" y="30688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Faculty clicks 'Start Attendance'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16908" y="4028948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39667" y="4412996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class_started flag set to 1 in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3584" y="1248053"/>
            <a:ext cx="1645920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Calibri"/>
              </a:rPr>
              <a:t>3. Verification &amp; Anti-Spoofing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9304" y="172466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Student clicks 'Mark Attendance'; webcam captures live frame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6544" y="2684780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99304" y="30688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Liveness checks: blur, screen/photo, glare,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6544" y="4028948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99304" y="4412996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All checks pass → live 128-d vector extracted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3220" y="1248054"/>
            <a:ext cx="1645920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Calibri"/>
              </a:rPr>
              <a:t>4. Face Matching &amp; Logging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8940" y="172466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Live vector compared to stored vector (tolerance 0.55)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36180" y="2684780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58940" y="30688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dirty="0">
                <a:solidFill>
                  <a:srgbClr val="212121"/>
                </a:solidFill>
                <a:latin typeface="Calibri"/>
              </a:rPr>
              <a:t>Confidence score calculated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36180" y="4028948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58940" y="4412996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Status marked 'Present' in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2856" y="1248053"/>
            <a:ext cx="1645920" cy="43088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050" b="1">
                <a:solidFill>
                  <a:srgbClr val="212121"/>
                </a:solidFill>
                <a:latin typeface="Calibri"/>
              </a:rPr>
              <a:t>5. Automated Absentee Sweep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8576" y="1724660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Check: current time past class end time?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95816" y="2684780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18576" y="3068828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class_started flag reset to 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95816" y="4028948"/>
            <a:ext cx="0" cy="384048"/>
          </a:xfrm>
          <a:prstGeom prst="bentConnector3">
            <a:avLst/>
          </a:prstGeom>
          <a:ln w="15875">
            <a:solidFill>
              <a:srgbClr val="9E9E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418576" y="4412996"/>
            <a:ext cx="1554480" cy="9601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>
                <a:solidFill>
                  <a:srgbClr val="212121"/>
                </a:solidFill>
                <a:latin typeface="Calibri"/>
              </a:rPr>
              <a:t>Unmatched students marked 'Absent'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231642" y="3448304"/>
            <a:ext cx="310896" cy="201168"/>
          </a:xfrm>
          <a:prstGeom prst="rightArrow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4" name="Right Arrow 33"/>
          <p:cNvSpPr/>
          <p:nvPr/>
        </p:nvSpPr>
        <p:spPr>
          <a:xfrm>
            <a:off x="4891278" y="3448304"/>
            <a:ext cx="310896" cy="201168"/>
          </a:xfrm>
          <a:prstGeom prst="rightArrow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5" name="Right Arrow 34"/>
          <p:cNvSpPr/>
          <p:nvPr/>
        </p:nvSpPr>
        <p:spPr>
          <a:xfrm>
            <a:off x="6550914" y="3448304"/>
            <a:ext cx="310896" cy="201168"/>
          </a:xfrm>
          <a:prstGeom prst="rightArrow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6" name="Right Arrow 35"/>
          <p:cNvSpPr/>
          <p:nvPr/>
        </p:nvSpPr>
        <p:spPr>
          <a:xfrm>
            <a:off x="8210550" y="3448304"/>
            <a:ext cx="310896" cy="201168"/>
          </a:xfrm>
          <a:prstGeom prst="rightArrow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37" name="TextBox 36"/>
          <p:cNvSpPr txBox="1"/>
          <p:nvPr/>
        </p:nvSpPr>
        <p:spPr>
          <a:xfrm>
            <a:off x="5053584" y="4083811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D32F2F"/>
                </a:solidFill>
                <a:latin typeface="Calibri"/>
              </a:rPr>
              <a:t>Any check fails → retry capture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3220" y="2739644"/>
            <a:ext cx="1645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 dirty="0">
                <a:solidFill>
                  <a:srgbClr val="D32F2F"/>
                </a:solidFill>
                <a:latin typeface="Calibri"/>
              </a:rPr>
              <a:t>Distance &gt; 0.55 → reject: mismatch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72640" y="5647436"/>
            <a:ext cx="146304" cy="146304"/>
          </a:xfrm>
          <a:prstGeom prst="rect">
            <a:avLst/>
          </a:prstGeom>
          <a:solidFill>
            <a:srgbClr val="E1F5FE"/>
          </a:solidFill>
          <a:ln>
            <a:solidFill>
              <a:srgbClr val="028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0" name="TextBox 39"/>
          <p:cNvSpPr txBox="1"/>
          <p:nvPr/>
        </p:nvSpPr>
        <p:spPr>
          <a:xfrm>
            <a:off x="2255521" y="5601717"/>
            <a:ext cx="83388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12121"/>
                </a:solidFill>
                <a:latin typeface="Calibri"/>
              </a:rPr>
              <a:t>User 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72840" y="5647436"/>
            <a:ext cx="146304" cy="146304"/>
          </a:xfrm>
          <a:prstGeom prst="rect">
            <a:avLst/>
          </a:prstGeom>
          <a:solidFill>
            <a:srgbClr val="F3E5F5"/>
          </a:solidFill>
          <a:ln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2" name="TextBox 41"/>
          <p:cNvSpPr txBox="1"/>
          <p:nvPr/>
        </p:nvSpPr>
        <p:spPr>
          <a:xfrm>
            <a:off x="3855720" y="5601717"/>
            <a:ext cx="61908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12121"/>
                </a:solidFill>
                <a:latin typeface="Calibri"/>
              </a:rPr>
              <a:t>Process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73039" y="5647436"/>
            <a:ext cx="146304" cy="146304"/>
          </a:xfrm>
          <a:prstGeom prst="rect">
            <a:avLst/>
          </a:prstGeom>
          <a:solidFill>
            <a:srgbClr val="FFF3E0"/>
          </a:solidFill>
          <a:ln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4" name="TextBox 43"/>
          <p:cNvSpPr txBox="1"/>
          <p:nvPr/>
        </p:nvSpPr>
        <p:spPr>
          <a:xfrm>
            <a:off x="5455921" y="5601717"/>
            <a:ext cx="100380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12121"/>
                </a:solidFill>
                <a:latin typeface="Calibri"/>
              </a:rPr>
              <a:t>Security check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3240" y="5647436"/>
            <a:ext cx="146304" cy="146304"/>
          </a:xfrm>
          <a:prstGeom prst="rect">
            <a:avLst/>
          </a:prstGeom>
          <a:solidFill>
            <a:srgbClr val="E8F5E9"/>
          </a:solidFill>
          <a:ln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6" name="TextBox 45"/>
          <p:cNvSpPr txBox="1"/>
          <p:nvPr/>
        </p:nvSpPr>
        <p:spPr>
          <a:xfrm>
            <a:off x="7056120" y="5601717"/>
            <a:ext cx="71846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12121"/>
                </a:solidFill>
                <a:latin typeface="Calibri"/>
              </a:rPr>
              <a:t>Database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3440" y="5647436"/>
            <a:ext cx="146304" cy="146304"/>
          </a:xfrm>
          <a:prstGeom prst="rect">
            <a:avLst/>
          </a:prstGeom>
          <a:solidFill>
            <a:srgbClr val="FFEBEE"/>
          </a:solidFill>
          <a:ln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48" name="TextBox 47"/>
          <p:cNvSpPr txBox="1"/>
          <p:nvPr/>
        </p:nvSpPr>
        <p:spPr>
          <a:xfrm>
            <a:off x="8656320" y="5601717"/>
            <a:ext cx="72167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212121"/>
                </a:solidFill>
                <a:latin typeface="Calibri"/>
              </a:rPr>
              <a:t>Rejection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824" y="3126010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8000" dirty="0" smtClean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12993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</TotalTime>
  <Words>398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Wisp</vt:lpstr>
      <vt:lpstr>Smart Attendance System</vt:lpstr>
      <vt:lpstr>Introduction</vt:lpstr>
      <vt:lpstr>Organization Profile</vt:lpstr>
      <vt:lpstr>Existing System</vt:lpstr>
      <vt:lpstr>Problem Areas of Existing System</vt:lpstr>
      <vt:lpstr>Need for the New System</vt:lpstr>
      <vt:lpstr>System Flow Diagram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System</dc:title>
  <dc:subject/>
  <dc:creator>Ashish Vaghasiya</dc:creator>
  <cp:keywords/>
  <dc:description>generated using python-pptx</dc:description>
  <cp:lastModifiedBy>SHREE RADHE</cp:lastModifiedBy>
  <cp:revision>7</cp:revision>
  <dcterms:created xsi:type="dcterms:W3CDTF">2013-01-27T09:14:16Z</dcterms:created>
  <dcterms:modified xsi:type="dcterms:W3CDTF">2026-08-06T07:46:06Z</dcterms:modified>
  <cp:category/>
</cp:coreProperties>
</file>