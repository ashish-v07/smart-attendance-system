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76" r:id="rId9"/>
    <p:sldId id="266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43576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6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06073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57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613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9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74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87452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818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70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77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7930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 userDrawn="1">
          <p15:clr>
            <a:srgbClr val="F26B43"/>
          </p15:clr>
        </p15:guide>
        <p15:guide id="4" orient="horz" pos="1440" userDrawn="1">
          <p15:clr>
            <a:srgbClr val="F26B43"/>
          </p15:clr>
        </p15:guide>
        <p15:guide id="6" orient="horz" pos="3696" userDrawn="1">
          <p15:clr>
            <a:srgbClr val="F26B43"/>
          </p15:clr>
        </p15:guide>
        <p15:guide id="7" orient="horz" pos="432" userDrawn="1">
          <p15:clr>
            <a:srgbClr val="F26B43"/>
          </p15:clr>
        </p15:guide>
        <p15:guide id="8" orient="horz" pos="1512" userDrawn="1">
          <p15:clr>
            <a:srgbClr val="F26B43"/>
          </p15:clr>
        </p15:guide>
        <p15:guide id="9" pos="6912" userDrawn="1">
          <p15:clr>
            <a:srgbClr val="F26B43"/>
          </p15:clr>
        </p15:guide>
        <p15:guide id="10" pos="936" userDrawn="1">
          <p15:clr>
            <a:srgbClr val="F26B43"/>
          </p15:clr>
        </p15:guide>
        <p15:guide id="11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868680" y="1351963"/>
            <a:ext cx="109728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1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3577" y="423223"/>
            <a:ext cx="8915399" cy="1350819"/>
          </a:xfrm>
        </p:spPr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Smart Attendance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3577" y="1791824"/>
            <a:ext cx="8915399" cy="1126283"/>
          </a:xfrm>
        </p:spPr>
        <p:txBody>
          <a:bodyPr>
            <a:normAutofit/>
          </a:bodyPr>
          <a:lstStyle/>
          <a:p>
            <a:r>
              <a:rPr dirty="0">
                <a:latin typeface="Aptos"/>
              </a:rPr>
              <a:t>Using Face Recognition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173576" y="2543936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Institution Name</a:t>
            </a:r>
            <a:r>
              <a:rPr lang="en-IN" sz="2000" dirty="0">
                <a:latin typeface="Aptos"/>
              </a:rPr>
              <a:t>: Indus University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Department</a:t>
            </a:r>
            <a:r>
              <a:rPr lang="en-IN" sz="2000" dirty="0">
                <a:latin typeface="Aptos"/>
              </a:rPr>
              <a:t>: IICT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Course/Sem. : </a:t>
            </a:r>
            <a:r>
              <a:rPr lang="en-IN" sz="2000" dirty="0">
                <a:latin typeface="Aptos"/>
              </a:rPr>
              <a:t>MSC-IT / 3 - C</a:t>
            </a: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Project Guide/Mentor</a:t>
            </a:r>
            <a:r>
              <a:rPr lang="en-IN" sz="2000" dirty="0">
                <a:latin typeface="Aptos"/>
              </a:rPr>
              <a:t>: Ms. </a:t>
            </a:r>
            <a:r>
              <a:rPr lang="en-IN" sz="2000" dirty="0" err="1">
                <a:latin typeface="Aptos"/>
              </a:rPr>
              <a:t>Archana</a:t>
            </a:r>
            <a:r>
              <a:rPr lang="en-IN" sz="2000" dirty="0">
                <a:latin typeface="Aptos"/>
              </a:rPr>
              <a:t> Srivastava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ptos"/>
              </a:rPr>
              <a:t>Team Members:</a:t>
            </a:r>
            <a:r>
              <a:rPr lang="en-IN" sz="2000" dirty="0">
                <a:latin typeface="Aptos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 err="1">
                <a:latin typeface="Aptos"/>
              </a:rPr>
              <a:t>Yash</a:t>
            </a:r>
            <a:r>
              <a:rPr lang="en-IN" sz="2000" dirty="0">
                <a:latin typeface="Aptos"/>
              </a:rPr>
              <a:t> </a:t>
            </a:r>
            <a:r>
              <a:rPr lang="en-IN" sz="2000" dirty="0" err="1">
                <a:latin typeface="Aptos"/>
              </a:rPr>
              <a:t>Italiya</a:t>
            </a:r>
            <a:r>
              <a:rPr lang="en-IN" sz="2000" dirty="0">
                <a:latin typeface="Aptos"/>
              </a:rPr>
              <a:t>		             : [IU2554100005]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IN" sz="2000" dirty="0">
                <a:latin typeface="Aptos"/>
              </a:rPr>
              <a:t>  Ashish </a:t>
            </a:r>
            <a:r>
              <a:rPr lang="en-IN" sz="2000" dirty="0" err="1">
                <a:latin typeface="Aptos"/>
              </a:rPr>
              <a:t>Vaghasiya</a:t>
            </a:r>
            <a:r>
              <a:rPr lang="en-IN" sz="2000" dirty="0">
                <a:latin typeface="Aptos"/>
              </a:rPr>
              <a:t>		: [IU2554100015]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>
                <a:latin typeface="Aptos"/>
              </a:rPr>
              <a:t>Overview</a:t>
            </a:r>
            <a:r>
              <a:rPr dirty="0">
                <a:latin typeface="Aptos"/>
              </a:rPr>
              <a:t>: A modern, automated web-based application designed to streamline attendance tracking.</a:t>
            </a:r>
          </a:p>
          <a:p>
            <a:pPr lvl="1"/>
            <a:r>
              <a:rPr b="1" dirty="0">
                <a:latin typeface="Aptos"/>
              </a:rPr>
              <a:t>Core Objective</a:t>
            </a:r>
            <a:r>
              <a:rPr dirty="0">
                <a:latin typeface="Aptos"/>
              </a:rPr>
              <a:t>: Eliminate manual roll-calls and proxy attendance.</a:t>
            </a:r>
          </a:p>
          <a:p>
            <a:pPr lvl="1"/>
            <a:r>
              <a:rPr dirty="0">
                <a:latin typeface="Aptos"/>
              </a:rPr>
              <a:t>Leverages advanced biometric face recognition and liveness detection.</a:t>
            </a:r>
            <a:endParaRPr lang="en-US" dirty="0"/>
          </a:p>
          <a:p>
            <a:pPr lvl="1"/>
            <a:endParaRPr dirty="0"/>
          </a:p>
          <a:p>
            <a:r>
              <a:rPr b="1" dirty="0">
                <a:latin typeface="Aptos"/>
              </a:rPr>
              <a:t>Technology Stack</a:t>
            </a:r>
            <a:r>
              <a:rPr dirty="0">
                <a:latin typeface="Aptos"/>
              </a:rPr>
              <a:t>:</a:t>
            </a:r>
            <a:endParaRPr lang="en-US" dirty="0"/>
          </a:p>
          <a:p>
            <a:pPr lvl="1"/>
            <a:r>
              <a:rPr lang="en-US" b="1" dirty="0">
                <a:latin typeface="Aptos"/>
              </a:rPr>
              <a:t>Frontend</a:t>
            </a:r>
            <a:r>
              <a:rPr lang="en-US" dirty="0">
                <a:latin typeface="Aptos"/>
              </a:rPr>
              <a:t>: HTML,CSS(BOOTSTRAP),JS, AJAX</a:t>
            </a:r>
            <a:endParaRPr dirty="0"/>
          </a:p>
          <a:p>
            <a:pPr lvl="1"/>
            <a:r>
              <a:rPr b="1" dirty="0">
                <a:latin typeface="Aptos"/>
              </a:rPr>
              <a:t>Backend</a:t>
            </a:r>
            <a:r>
              <a:rPr dirty="0">
                <a:latin typeface="Aptos"/>
              </a:rPr>
              <a:t>: Python, Flask Framework</a:t>
            </a:r>
            <a:endParaRPr dirty="0"/>
          </a:p>
          <a:p>
            <a:pPr lvl="1"/>
            <a:r>
              <a:rPr b="1" dirty="0">
                <a:latin typeface="Aptos"/>
              </a:rPr>
              <a:t>Database</a:t>
            </a:r>
            <a:r>
              <a:rPr dirty="0">
                <a:latin typeface="Aptos"/>
              </a:rPr>
              <a:t>: MySQL</a:t>
            </a:r>
          </a:p>
          <a:p>
            <a:pPr lvl="1"/>
            <a:r>
              <a:rPr b="1" dirty="0">
                <a:latin typeface="Aptos"/>
              </a:rPr>
              <a:t>AI/CV Engine</a:t>
            </a:r>
            <a:r>
              <a:rPr dirty="0">
                <a:latin typeface="Aptos"/>
              </a:rPr>
              <a:t>: </a:t>
            </a:r>
            <a:r>
              <a:rPr dirty="0" err="1">
                <a:latin typeface="Aptos"/>
              </a:rPr>
              <a:t>Open</a:t>
            </a:r>
            <a:r>
              <a:rPr lang="en-US" dirty="0" err="1">
                <a:latin typeface="Aptos"/>
              </a:rPr>
              <a:t>CV</a:t>
            </a:r>
            <a:r>
              <a:rPr dirty="0">
                <a:latin typeface="Aptos"/>
              </a:rPr>
              <a:t>, </a:t>
            </a:r>
            <a:r>
              <a:rPr dirty="0" err="1">
                <a:latin typeface="Aptos"/>
              </a:rPr>
              <a:t>face_recognition</a:t>
            </a:r>
            <a:r>
              <a:rPr dirty="0">
                <a:latin typeface="Aptos"/>
              </a:rPr>
              <a:t> </a:t>
            </a:r>
            <a:r>
              <a:rPr lang="en-US" dirty="0">
                <a:latin typeface="Aptos"/>
              </a:rPr>
              <a:t>library</a:t>
            </a:r>
            <a:r>
              <a:rPr dirty="0">
                <a:latin typeface="Aptos"/>
              </a:rPr>
              <a:t>(</a:t>
            </a:r>
            <a:r>
              <a:rPr dirty="0" err="1">
                <a:latin typeface="Aptos"/>
              </a:rPr>
              <a:t>dlib</a:t>
            </a:r>
            <a:r>
              <a:rPr dirty="0">
                <a:latin typeface="Aptos"/>
              </a:rPr>
              <a:t>)</a:t>
            </a:r>
            <a:endParaRPr lang="en-US" dirty="0"/>
          </a:p>
          <a:p>
            <a:pPr lvl="1"/>
            <a:r>
              <a:rPr lang="en-US" b="1" dirty="0" err="1">
                <a:latin typeface="Aptos"/>
              </a:rPr>
              <a:t>Plateform</a:t>
            </a:r>
            <a:r>
              <a:rPr lang="en-US" dirty="0">
                <a:latin typeface="Aptos"/>
              </a:rPr>
              <a:t> : VS CODE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latin typeface="Aptos"/>
              </a:rPr>
              <a:t>Manual Roll-Call:</a:t>
            </a:r>
          </a:p>
          <a:p>
            <a:pPr lvl="1"/>
            <a:r>
              <a:rPr sz="2000" dirty="0">
                <a:latin typeface="Aptos"/>
              </a:rPr>
              <a:t>Faculty calling names or passing around sheets during class.</a:t>
            </a:r>
            <a:endParaRPr lang="en-US" sz="2000" dirty="0"/>
          </a:p>
          <a:p>
            <a:pPr lvl="1"/>
            <a:endParaRPr sz="2000" dirty="0"/>
          </a:p>
          <a:p>
            <a:r>
              <a:rPr sz="2000" b="1" dirty="0">
                <a:latin typeface="Aptos"/>
              </a:rPr>
              <a:t>Legacy ERP Entry:</a:t>
            </a:r>
          </a:p>
          <a:p>
            <a:pPr lvl="1"/>
            <a:r>
              <a:rPr sz="2000" dirty="0">
                <a:latin typeface="Aptos"/>
              </a:rPr>
              <a:t>Faculty manually entering data into portals after class.</a:t>
            </a:r>
            <a:endParaRPr lang="en-US" sz="2000" dirty="0"/>
          </a:p>
          <a:p>
            <a:pPr lvl="1"/>
            <a:endParaRPr sz="2000" dirty="0"/>
          </a:p>
          <a:p>
            <a:r>
              <a:rPr sz="2000" b="1" dirty="0">
                <a:latin typeface="Aptos"/>
              </a:rPr>
              <a:t>Traditional Biometrics:</a:t>
            </a:r>
          </a:p>
          <a:p>
            <a:pPr lvl="1"/>
            <a:r>
              <a:rPr sz="2000" dirty="0">
                <a:latin typeface="Aptos"/>
              </a:rPr>
              <a:t>Shared RFID cards or fingerprint scanners at classroom doors.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Problem Areas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>
                <a:latin typeface="Aptos"/>
              </a:rPr>
              <a:t>Time Consumption: </a:t>
            </a:r>
            <a:r>
              <a:rPr dirty="0">
                <a:latin typeface="Aptos"/>
              </a:rPr>
              <a:t>Wastes 5-10 minutes of valuable instructional time.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Proxy Attendance</a:t>
            </a:r>
            <a:r>
              <a:rPr dirty="0">
                <a:latin typeface="Aptos"/>
              </a:rPr>
              <a:t>: High risk of buddy punching (fake attendance).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Administrative Burden: </a:t>
            </a:r>
            <a:r>
              <a:rPr dirty="0">
                <a:latin typeface="Aptos"/>
              </a:rPr>
              <a:t>Manual percentage calculations and absentee management.</a:t>
            </a:r>
            <a:endParaRPr lang="en-US" dirty="0"/>
          </a:p>
          <a:p>
            <a:endParaRPr dirty="0"/>
          </a:p>
          <a:p>
            <a:r>
              <a:rPr b="1" dirty="0">
                <a:latin typeface="Aptos"/>
              </a:rPr>
              <a:t>Hygiene &amp; Bottlenecks: </a:t>
            </a:r>
            <a:r>
              <a:rPr dirty="0">
                <a:latin typeface="Aptos"/>
              </a:rPr>
              <a:t>Fingerprint scanners create long queues and pose hygiene concerns.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 dirty="0">
                <a:solidFill>
                  <a:srgbClr val="12263F"/>
                </a:solidFill>
                <a:latin typeface="Aptos Display"/>
              </a:rPr>
              <a:t>Need for the New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600" b="1" dirty="0">
                <a:latin typeface="Aptos"/>
              </a:rPr>
              <a:t>Complete Automation:</a:t>
            </a:r>
          </a:p>
          <a:p>
            <a:pPr lvl="1"/>
            <a:r>
              <a:rPr dirty="0">
                <a:latin typeface="Aptos"/>
              </a:rPr>
              <a:t>Zero-touch, self-service attendance linked to live class schedules.</a:t>
            </a:r>
            <a:endParaRPr lang="en-US" dirty="0"/>
          </a:p>
          <a:p>
            <a:pPr lvl="1"/>
            <a:endParaRPr dirty="0"/>
          </a:p>
          <a:p>
            <a:r>
              <a:rPr sz="1600" b="1" dirty="0">
                <a:latin typeface="Aptos"/>
              </a:rPr>
              <a:t>Uncompromised Security:</a:t>
            </a:r>
          </a:p>
          <a:p>
            <a:pPr lvl="1"/>
            <a:r>
              <a:rPr dirty="0">
                <a:latin typeface="Aptos"/>
              </a:rPr>
              <a:t>Advanced anti-spoofing pipeline ensures strict liveness detection.</a:t>
            </a:r>
            <a:endParaRPr lang="en-US" dirty="0"/>
          </a:p>
          <a:p>
            <a:pPr lvl="1"/>
            <a:endParaRPr dirty="0"/>
          </a:p>
          <a:p>
            <a:r>
              <a:rPr sz="1600" b="1" dirty="0">
                <a:latin typeface="Aptos"/>
              </a:rPr>
              <a:t>High Precision Accuracy:</a:t>
            </a:r>
          </a:p>
          <a:p>
            <a:pPr lvl="1"/>
            <a:r>
              <a:rPr dirty="0">
                <a:latin typeface="Aptos"/>
              </a:rPr>
              <a:t>Deep learning-based 128-d face encodings provide highly accurate matches.</a:t>
            </a:r>
            <a:endParaRPr lang="en-US" dirty="0"/>
          </a:p>
          <a:p>
            <a:pPr lvl="1"/>
            <a:endParaRPr dirty="0"/>
          </a:p>
          <a:p>
            <a:r>
              <a:rPr sz="1600" b="1" dirty="0">
                <a:latin typeface="Aptos"/>
              </a:rPr>
              <a:t>Real-Time Analytics</a:t>
            </a:r>
            <a:r>
              <a:rPr sz="1600" dirty="0">
                <a:latin typeface="Aptos"/>
              </a:rPr>
              <a:t>:</a:t>
            </a:r>
          </a:p>
          <a:p>
            <a:pPr lvl="1"/>
            <a:r>
              <a:rPr dirty="0">
                <a:latin typeface="Aptos"/>
              </a:rPr>
              <a:t>Instant, role-based dashboards for students and faculty.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037" y="2740747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6600" b="1" dirty="0">
                <a:latin typeface="Aptos"/>
              </a:rPr>
              <a:t>System Flow</a:t>
            </a:r>
            <a:r>
              <a:rPr lang="en-US" sz="6600" b="1" dirty="0">
                <a:latin typeface="Aptos"/>
              </a:rPr>
              <a:t> Diagram</a:t>
            </a:r>
            <a:endParaRPr sz="6600"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52400"/>
            <a:ext cx="10058400" cy="6497782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34DC-95C2-3673-8623-BDEBA024F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972" y="2678907"/>
            <a:ext cx="9594056" cy="2678906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/>
              <a:t>Data Dictionary </a:t>
            </a:r>
          </a:p>
        </p:txBody>
      </p:sp>
    </p:spTree>
    <p:extLst>
      <p:ext uri="{BB962C8B-B14F-4D97-AF65-F5344CB8AC3E}">
        <p14:creationId xmlns:p14="http://schemas.microsoft.com/office/powerpoint/2010/main" val="271460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6892" y="80514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356094"/>
              </p:ext>
            </p:extLst>
          </p:nvPr>
        </p:nvGraphicFramePr>
        <p:xfrm>
          <a:off x="1796892" y="1372077"/>
          <a:ext cx="9454515" cy="4845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8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281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28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 err="1"/>
                        <a:t>role_id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lang="en-US" dirty="0"/>
                        <a:t>Unique role 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28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role_name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Admin / Faculty / Student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41052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users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74154"/>
              </p:ext>
            </p:extLst>
          </p:nvPr>
        </p:nvGraphicFramePr>
        <p:xfrm>
          <a:off x="1382554" y="1284732"/>
          <a:ext cx="10276046" cy="496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37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68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Unique user ID (PK)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role_id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 role (FK)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User's full 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Login email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Hashed password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profile_img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Profile image path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Account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1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created_at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ptos"/>
                        </a:defRPr>
                      </a:pPr>
                      <a:r>
                        <a:rPr dirty="0"/>
                        <a:t>Account creation time</a:t>
                      </a:r>
                    </a:p>
                  </a:txBody>
                  <a:tcPr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99235" y="7910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students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037022"/>
              </p:ext>
            </p:extLst>
          </p:nvPr>
        </p:nvGraphicFramePr>
        <p:xfrm>
          <a:off x="1499235" y="1417320"/>
          <a:ext cx="9918860" cy="451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9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8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07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student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user_id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user ID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course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semester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07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face_registered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TINYINT(1)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Face registration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07832" y="76771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faculty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134794"/>
              </p:ext>
            </p:extLst>
          </p:nvPr>
        </p:nvGraphicFramePr>
        <p:xfrm>
          <a:off x="1707832" y="1238250"/>
          <a:ext cx="9859328" cy="471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4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78719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faculty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user_id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user ID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871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designation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Faculty designation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15262" y="79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courses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128799"/>
              </p:ext>
            </p:extLst>
          </p:nvPr>
        </p:nvGraphicFramePr>
        <p:xfrm>
          <a:off x="1715262" y="1417320"/>
          <a:ext cx="9787890" cy="464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4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086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course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Course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Unique course 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82579" y="797241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semesters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513812"/>
              </p:ext>
            </p:extLst>
          </p:nvPr>
        </p:nvGraphicFramePr>
        <p:xfrm>
          <a:off x="1582579" y="1417320"/>
          <a:ext cx="9561672" cy="4643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0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7813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781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semester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7813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Semester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63517" y="82105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subjects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742758"/>
              </p:ext>
            </p:extLst>
          </p:nvPr>
        </p:nvGraphicFramePr>
        <p:xfrm>
          <a:off x="1463517" y="1417320"/>
          <a:ext cx="9883141" cy="4619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0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4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946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subject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course_id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course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semester_id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semester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Assigned faculty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Subject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951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subject_code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Unique subject code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30203" y="9220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face_data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74478"/>
              </p:ext>
            </p:extLst>
          </p:nvPr>
        </p:nvGraphicFramePr>
        <p:xfrm>
          <a:off x="1630203" y="1417320"/>
          <a:ext cx="969264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1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face record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Linked student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image_path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Registered face image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face_encoding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MEDIUMTEXT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Stored facial encoding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0946" y="6781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classes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968878"/>
              </p:ext>
            </p:extLst>
          </p:nvPr>
        </p:nvGraphicFramePr>
        <p:xfrm>
          <a:off x="1570672" y="1250156"/>
          <a:ext cx="9514046" cy="473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2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336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class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subject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faculty_id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faculty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class_date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 of class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start_time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start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end_time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Class end 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attendance_started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TINYINT(1)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Attendance session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3082" y="690085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attendance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638802"/>
              </p:ext>
            </p:extLst>
          </p:nvPr>
        </p:nvGraphicFramePr>
        <p:xfrm>
          <a:off x="1803082" y="1285875"/>
          <a:ext cx="9764078" cy="460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245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attendance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class_id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Related class (FK)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student_id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Student (FK)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attendance_time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DATETIME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Attendance time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4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Present / Absent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2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confidence_score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DECIMAL(5,2)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Face-match confidence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67637" y="713803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"/>
              </a:defRPr>
            </a:pPr>
            <a:r>
              <a:rPr sz="2400" b="1">
                <a:solidFill>
                  <a:srgbClr val="12263F"/>
                </a:solidFill>
                <a:latin typeface="Aptos Display"/>
              </a:rPr>
              <a:t>Table: feedback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828716"/>
              </p:ext>
            </p:extLst>
          </p:nvPr>
        </p:nvGraphicFramePr>
        <p:xfrm>
          <a:off x="1667637" y="1286160"/>
          <a:ext cx="9835515" cy="482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8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1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3672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Data Type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feedback_id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Unique feedback ID (PK)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Sender's name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Sender's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subject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Feedback subject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6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b="1">
                          <a:solidFill>
                            <a:srgbClr val="1F5C91"/>
                          </a:solidFill>
                        </a:rPr>
                        <a:t>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303A"/>
                          </a:solidFill>
                          <a:latin typeface="Aptos"/>
                        </a:defRPr>
                      </a:pPr>
                      <a:r>
                        <a:rPr dirty="0"/>
                        <a:t>Feedback 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824" y="3126010"/>
            <a:ext cx="8911687" cy="1280890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latin typeface="Aptos"/>
              </a:rPr>
              <a:t>THANK YOU</a:t>
            </a:r>
            <a:endParaRPr lang="en-IN" sz="800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2993152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</TotalTime>
  <Words>254</Words>
  <Application>Microsoft Office PowerPoint</Application>
  <PresentationFormat>Widescreen</PresentationFormat>
  <Paragraphs>51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Crop</vt:lpstr>
      <vt:lpstr>Smart Attendance System</vt:lpstr>
      <vt:lpstr>Introduction</vt:lpstr>
      <vt:lpstr>Existing System</vt:lpstr>
      <vt:lpstr>Problem Areas of Existing System</vt:lpstr>
      <vt:lpstr>Need for the New System</vt:lpstr>
      <vt:lpstr>System Flow Diagram</vt:lpstr>
      <vt:lpstr>PowerPoint Presentation</vt:lpstr>
      <vt:lpstr>Data Dictionary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Attendance System</dc:title>
  <dc:subject/>
  <dc:creator>Ashish Vaghasiya</dc:creator>
  <cp:keywords/>
  <dc:description>generated using python-pptx</dc:description>
  <cp:lastModifiedBy>Ashish Vaghasiya</cp:lastModifiedBy>
  <cp:revision>10</cp:revision>
  <dcterms:created xsi:type="dcterms:W3CDTF">2013-01-27T09:14:16Z</dcterms:created>
  <dcterms:modified xsi:type="dcterms:W3CDTF">2026-08-30T11:47:25Z</dcterms:modified>
  <cp:category/>
</cp:coreProperties>
</file>