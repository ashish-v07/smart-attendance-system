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9" r:id="rId1"/>
  </p:sldMasterIdLst>
  <p:sldIdLst>
    <p:sldId id="256" r:id="rId2"/>
    <p:sldId id="257" r:id="rId3"/>
    <p:sldId id="259" r:id="rId4"/>
    <p:sldId id="260" r:id="rId5"/>
    <p:sldId id="261" r:id="rId6"/>
    <p:sldId id="277" r:id="rId7"/>
    <p:sldId id="262" r:id="rId8"/>
    <p:sldId id="263" r:id="rId9"/>
    <p:sldId id="276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8" r:id="rId22"/>
    <p:sldId id="279" r:id="rId23"/>
    <p:sldId id="26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viewProps" Target="viewProp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0435764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961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706073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573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613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29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374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87452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98189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709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773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79308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 userDrawn="1">
          <p15:clr>
            <a:srgbClr val="F26B43"/>
          </p15:clr>
        </p15:guide>
        <p15:guide id="4" orient="horz" pos="1440" userDrawn="1">
          <p15:clr>
            <a:srgbClr val="F26B43"/>
          </p15:clr>
        </p15:guide>
        <p15:guide id="6" orient="horz" pos="3696" userDrawn="1">
          <p15:clr>
            <a:srgbClr val="F26B43"/>
          </p15:clr>
        </p15:guide>
        <p15:guide id="7" orient="horz" pos="432" userDrawn="1">
          <p15:clr>
            <a:srgbClr val="F26B43"/>
          </p15:clr>
        </p15:guide>
        <p15:guide id="8" orient="horz" pos="1512" userDrawn="1">
          <p15:clr>
            <a:srgbClr val="F26B43"/>
          </p15:clr>
        </p15:guide>
        <p15:guide id="9" pos="6912" userDrawn="1">
          <p15:clr>
            <a:srgbClr val="F26B43"/>
          </p15:clr>
        </p15:guide>
        <p15:guide id="10" pos="936" userDrawn="1">
          <p15:clr>
            <a:srgbClr val="F26B43"/>
          </p15:clr>
        </p15:guide>
        <p15:guide id="11" pos="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6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6.xml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868680" y="1351963"/>
            <a:ext cx="10972800" cy="4480560"/>
          </a:xfrm>
          <a:prstGeom prst="roundRect">
            <a:avLst/>
          </a:prstGeom>
          <a:solidFill>
            <a:srgbClr val="F4F7FA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3577" y="423223"/>
            <a:ext cx="8915399" cy="1350819"/>
          </a:xfrm>
        </p:spPr>
        <p:txBody>
          <a:bodyPr/>
          <a:lstStyle/>
          <a:p>
            <a:r>
              <a:rPr sz="2400" b="1" dirty="0">
                <a:solidFill>
                  <a:srgbClr val="12263F"/>
                </a:solidFill>
                <a:latin typeface="Aptos Display"/>
              </a:rPr>
              <a:t>Smart Attendance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3577" y="1791824"/>
            <a:ext cx="8915399" cy="1126283"/>
          </a:xfrm>
        </p:spPr>
        <p:txBody>
          <a:bodyPr>
            <a:normAutofit/>
          </a:bodyPr>
          <a:lstStyle/>
          <a:p>
            <a:r>
              <a:rPr dirty="0">
                <a:latin typeface="Aptos"/>
              </a:rPr>
              <a:t>Using Face Recognition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2173576" y="2543936"/>
            <a:ext cx="8915400" cy="37776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Aptos"/>
              </a:rPr>
              <a:t>Institution Name</a:t>
            </a:r>
            <a:r>
              <a:rPr lang="en-IN" sz="2000" dirty="0">
                <a:latin typeface="Aptos"/>
              </a:rPr>
              <a:t>: Indus University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Aptos"/>
              </a:rPr>
              <a:t>Department</a:t>
            </a:r>
            <a:r>
              <a:rPr lang="en-IN" sz="2000" dirty="0">
                <a:latin typeface="Aptos"/>
              </a:rPr>
              <a:t>: IICT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Aptos"/>
              </a:rPr>
              <a:t>Course/Sem. : </a:t>
            </a:r>
            <a:r>
              <a:rPr lang="en-IN" sz="2000" dirty="0">
                <a:latin typeface="Aptos"/>
              </a:rPr>
              <a:t>MSC-IT / 3 - C</a:t>
            </a:r>
            <a:endParaRPr lang="en-IN" sz="20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Aptos"/>
              </a:rPr>
              <a:t>Project Guide/Mentor</a:t>
            </a:r>
            <a:r>
              <a:rPr lang="en-IN" sz="2000" dirty="0">
                <a:latin typeface="Aptos"/>
              </a:rPr>
              <a:t>: Ms. </a:t>
            </a:r>
            <a:r>
              <a:rPr lang="en-IN" sz="2000" dirty="0" err="1">
                <a:latin typeface="Aptos"/>
              </a:rPr>
              <a:t>Archana</a:t>
            </a:r>
            <a:r>
              <a:rPr lang="en-IN" sz="2000" dirty="0">
                <a:latin typeface="Aptos"/>
              </a:rPr>
              <a:t> Srivastava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Aptos"/>
              </a:rPr>
              <a:t>Team Members:</a:t>
            </a:r>
            <a:r>
              <a:rPr lang="en-IN" sz="2000" dirty="0">
                <a:latin typeface="Aptos"/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IN" sz="2000" dirty="0" err="1">
                <a:latin typeface="Aptos"/>
              </a:rPr>
              <a:t>Yash</a:t>
            </a:r>
            <a:r>
              <a:rPr lang="en-IN" sz="2000" dirty="0">
                <a:latin typeface="Aptos"/>
              </a:rPr>
              <a:t> </a:t>
            </a:r>
            <a:r>
              <a:rPr lang="en-IN" sz="2000" dirty="0" err="1">
                <a:latin typeface="Aptos"/>
              </a:rPr>
              <a:t>Italiya</a:t>
            </a:r>
            <a:r>
              <a:rPr lang="en-IN" sz="2000" dirty="0">
                <a:latin typeface="Aptos"/>
              </a:rPr>
              <a:t>		             : [IU2554100005]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IN" sz="2000" dirty="0">
                <a:latin typeface="Aptos"/>
              </a:rPr>
              <a:t>  Ashish </a:t>
            </a:r>
            <a:r>
              <a:rPr lang="en-IN" sz="2000" dirty="0" err="1">
                <a:latin typeface="Aptos"/>
              </a:rPr>
              <a:t>Vaghasiya</a:t>
            </a:r>
            <a:r>
              <a:rPr lang="en-IN" sz="2000" dirty="0">
                <a:latin typeface="Aptos"/>
              </a:rPr>
              <a:t>		: [IU2554100015]</a:t>
            </a:r>
            <a:endParaRPr lang="en-IN" sz="2000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dirty="0">
                <a:solidFill>
                  <a:srgbClr val="12263F"/>
                </a:solidFill>
                <a:latin typeface="Aptos Display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654970"/>
            <a:ext cx="9601200" cy="4024312"/>
          </a:xfrm>
        </p:spPr>
        <p:txBody>
          <a:bodyPr>
            <a:noAutofit/>
          </a:bodyPr>
          <a:lstStyle/>
          <a:p>
            <a:r>
              <a:rPr b="1" dirty="0">
                <a:latin typeface="Aptos"/>
              </a:rPr>
              <a:t>Overview</a:t>
            </a:r>
            <a:r>
              <a:rPr dirty="0">
                <a:latin typeface="Aptos"/>
              </a:rPr>
              <a:t>: A modern, automated web-based application designed to streamline attendance tracking.</a:t>
            </a:r>
          </a:p>
          <a:p>
            <a:pPr lvl="1"/>
            <a:r>
              <a:rPr b="1" dirty="0">
                <a:latin typeface="Aptos"/>
              </a:rPr>
              <a:t>Core Objective</a:t>
            </a:r>
            <a:r>
              <a:rPr dirty="0">
                <a:latin typeface="Aptos"/>
              </a:rPr>
              <a:t>: Eliminate manual roll-calls and proxy attendance.</a:t>
            </a:r>
          </a:p>
          <a:p>
            <a:pPr lvl="1"/>
            <a:r>
              <a:rPr dirty="0">
                <a:latin typeface="Aptos"/>
              </a:rPr>
              <a:t>Leverages advanced biometric face recognition and liveness detection.</a:t>
            </a:r>
            <a:endParaRPr lang="en-US" dirty="0"/>
          </a:p>
          <a:p>
            <a:pPr lvl="1"/>
            <a:endParaRPr dirty="0"/>
          </a:p>
          <a:p>
            <a:r>
              <a:rPr b="1" dirty="0">
                <a:latin typeface="Aptos"/>
              </a:rPr>
              <a:t>Technology Stack</a:t>
            </a:r>
            <a:r>
              <a:rPr dirty="0">
                <a:latin typeface="Aptos"/>
              </a:rPr>
              <a:t>:</a:t>
            </a:r>
            <a:endParaRPr lang="en-US" dirty="0"/>
          </a:p>
          <a:p>
            <a:pPr lvl="1"/>
            <a:r>
              <a:rPr lang="en-US" b="1" dirty="0">
                <a:latin typeface="Aptos"/>
              </a:rPr>
              <a:t>Frontend</a:t>
            </a:r>
            <a:r>
              <a:rPr lang="en-US" dirty="0">
                <a:latin typeface="Aptos"/>
              </a:rPr>
              <a:t>: HTML,CSS(BOOTSTRAP),JS, AJAX</a:t>
            </a:r>
            <a:endParaRPr dirty="0"/>
          </a:p>
          <a:p>
            <a:pPr lvl="1"/>
            <a:r>
              <a:rPr b="1" dirty="0">
                <a:latin typeface="Aptos"/>
              </a:rPr>
              <a:t>Backend</a:t>
            </a:r>
            <a:r>
              <a:rPr dirty="0">
                <a:latin typeface="Aptos"/>
              </a:rPr>
              <a:t>: Python, Flask Framework</a:t>
            </a:r>
            <a:endParaRPr dirty="0"/>
          </a:p>
          <a:p>
            <a:pPr lvl="1"/>
            <a:r>
              <a:rPr b="1" dirty="0">
                <a:latin typeface="Aptos"/>
              </a:rPr>
              <a:t>Database</a:t>
            </a:r>
            <a:r>
              <a:rPr dirty="0">
                <a:latin typeface="Aptos"/>
              </a:rPr>
              <a:t>: MySQL</a:t>
            </a:r>
          </a:p>
          <a:p>
            <a:pPr lvl="1"/>
            <a:r>
              <a:rPr b="1" dirty="0">
                <a:latin typeface="Aptos"/>
              </a:rPr>
              <a:t>AI/CV Engine</a:t>
            </a:r>
            <a:r>
              <a:rPr dirty="0">
                <a:latin typeface="Aptos"/>
              </a:rPr>
              <a:t>: </a:t>
            </a:r>
            <a:r>
              <a:rPr dirty="0" err="1">
                <a:latin typeface="Aptos"/>
              </a:rPr>
              <a:t>Open</a:t>
            </a:r>
            <a:r>
              <a:rPr lang="en-US" dirty="0" err="1">
                <a:latin typeface="Aptos"/>
              </a:rPr>
              <a:t>CV</a:t>
            </a:r>
            <a:r>
              <a:rPr dirty="0">
                <a:latin typeface="Aptos"/>
              </a:rPr>
              <a:t>, </a:t>
            </a:r>
            <a:r>
              <a:rPr dirty="0" err="1">
                <a:latin typeface="Aptos"/>
              </a:rPr>
              <a:t>face_recognition</a:t>
            </a:r>
            <a:r>
              <a:rPr dirty="0">
                <a:latin typeface="Aptos"/>
              </a:rPr>
              <a:t> </a:t>
            </a:r>
            <a:r>
              <a:rPr lang="en-US" dirty="0">
                <a:latin typeface="Aptos"/>
              </a:rPr>
              <a:t>library</a:t>
            </a:r>
            <a:r>
              <a:rPr dirty="0">
                <a:latin typeface="Aptos"/>
              </a:rPr>
              <a:t>(</a:t>
            </a:r>
            <a:r>
              <a:rPr dirty="0" err="1">
                <a:latin typeface="Aptos"/>
              </a:rPr>
              <a:t>dlib</a:t>
            </a:r>
            <a:r>
              <a:rPr dirty="0">
                <a:latin typeface="Aptos"/>
              </a:rPr>
              <a:t>)</a:t>
            </a:r>
            <a:endParaRPr lang="en-US" dirty="0"/>
          </a:p>
          <a:p>
            <a:pPr lvl="1"/>
            <a:r>
              <a:rPr lang="en-US" b="1" dirty="0" err="1">
                <a:latin typeface="Aptos"/>
              </a:rPr>
              <a:t>Plateform</a:t>
            </a:r>
            <a:r>
              <a:rPr lang="en-US" dirty="0">
                <a:latin typeface="Aptos"/>
              </a:rPr>
              <a:t> : VS CODE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dirty="0">
                <a:solidFill>
                  <a:srgbClr val="12263F"/>
                </a:solidFill>
                <a:latin typeface="Aptos Display"/>
              </a:rP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976438"/>
            <a:ext cx="9601200" cy="3581400"/>
          </a:xfrm>
        </p:spPr>
        <p:txBody>
          <a:bodyPr>
            <a:normAutofit/>
          </a:bodyPr>
          <a:lstStyle/>
          <a:p>
            <a:r>
              <a:rPr sz="2000" b="1" dirty="0">
                <a:latin typeface="Aptos"/>
              </a:rPr>
              <a:t>Manual Roll-Call:</a:t>
            </a:r>
          </a:p>
          <a:p>
            <a:pPr lvl="1"/>
            <a:r>
              <a:rPr sz="2000" dirty="0">
                <a:latin typeface="Aptos"/>
              </a:rPr>
              <a:t>Faculty calling names or passing around sheets during class.</a:t>
            </a:r>
            <a:endParaRPr lang="en-US" sz="2000" dirty="0"/>
          </a:p>
          <a:p>
            <a:pPr lvl="1"/>
            <a:endParaRPr sz="2000" dirty="0"/>
          </a:p>
          <a:p>
            <a:r>
              <a:rPr sz="2000" b="1" dirty="0">
                <a:latin typeface="Aptos"/>
              </a:rPr>
              <a:t>Legacy ERP Entry:</a:t>
            </a:r>
          </a:p>
          <a:p>
            <a:pPr lvl="1"/>
            <a:r>
              <a:rPr sz="2000" dirty="0">
                <a:latin typeface="Aptos"/>
              </a:rPr>
              <a:t>Faculty manually entering data into portals after class.</a:t>
            </a:r>
            <a:endParaRPr lang="en-US" sz="2000" dirty="0"/>
          </a:p>
          <a:p>
            <a:pPr lvl="1"/>
            <a:endParaRPr sz="2000" dirty="0"/>
          </a:p>
          <a:p>
            <a:r>
              <a:rPr sz="2000" b="1" dirty="0">
                <a:latin typeface="Aptos"/>
              </a:rPr>
              <a:t>Traditional Biometrics:</a:t>
            </a:r>
          </a:p>
          <a:p>
            <a:pPr lvl="1"/>
            <a:r>
              <a:rPr sz="2000" dirty="0">
                <a:latin typeface="Aptos"/>
              </a:rPr>
              <a:t>Shared RFID cards or fingerprint scanners at classroom doors.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dirty="0">
                <a:solidFill>
                  <a:srgbClr val="12263F"/>
                </a:solidFill>
                <a:latin typeface="Aptos Display"/>
              </a:rPr>
              <a:t>Problem Areas of 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b="1" dirty="0">
                <a:latin typeface="Aptos"/>
              </a:rPr>
              <a:t>Time Consumption: </a:t>
            </a:r>
            <a:r>
              <a:rPr dirty="0">
                <a:latin typeface="Aptos"/>
              </a:rPr>
              <a:t>Wastes 5-10 minutes of valuable instructional time.</a:t>
            </a:r>
            <a:endParaRPr lang="en-US" dirty="0"/>
          </a:p>
          <a:p>
            <a:endParaRPr dirty="0"/>
          </a:p>
          <a:p>
            <a:r>
              <a:rPr b="1" dirty="0">
                <a:latin typeface="Aptos"/>
              </a:rPr>
              <a:t>Proxy Attendance</a:t>
            </a:r>
            <a:r>
              <a:rPr dirty="0">
                <a:latin typeface="Aptos"/>
              </a:rPr>
              <a:t>: High risk of buddy punching (fake attendance).</a:t>
            </a:r>
            <a:endParaRPr lang="en-US" dirty="0"/>
          </a:p>
          <a:p>
            <a:endParaRPr dirty="0"/>
          </a:p>
          <a:p>
            <a:r>
              <a:rPr b="1" dirty="0">
                <a:latin typeface="Aptos"/>
              </a:rPr>
              <a:t>Administrative Burden: </a:t>
            </a:r>
            <a:r>
              <a:rPr dirty="0">
                <a:latin typeface="Aptos"/>
              </a:rPr>
              <a:t>Manual percentage calculations and absentee management.</a:t>
            </a:r>
            <a:endParaRPr lang="en-US" dirty="0"/>
          </a:p>
          <a:p>
            <a:endParaRPr dirty="0"/>
          </a:p>
          <a:p>
            <a:r>
              <a:rPr b="1" dirty="0">
                <a:latin typeface="Aptos"/>
              </a:rPr>
              <a:t>Hygiene &amp; Bottlenecks: </a:t>
            </a:r>
            <a:r>
              <a:rPr dirty="0">
                <a:latin typeface="Aptos"/>
              </a:rPr>
              <a:t>Fingerprint scanners create long queues and pose hygiene concerns.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dirty="0">
                <a:solidFill>
                  <a:srgbClr val="12263F"/>
                </a:solidFill>
                <a:latin typeface="Aptos Display"/>
              </a:rPr>
              <a:t>Need for the New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85938"/>
            <a:ext cx="9601200" cy="3581400"/>
          </a:xfrm>
        </p:spPr>
        <p:txBody>
          <a:bodyPr>
            <a:noAutofit/>
          </a:bodyPr>
          <a:lstStyle/>
          <a:p>
            <a:r>
              <a:rPr b="1" dirty="0">
                <a:latin typeface="Aptos"/>
              </a:rPr>
              <a:t>Complete Automation:</a:t>
            </a:r>
          </a:p>
          <a:p>
            <a:pPr lvl="1"/>
            <a:r>
              <a:rPr dirty="0">
                <a:latin typeface="Aptos"/>
              </a:rPr>
              <a:t>Zero-touch, self-service attendance linked to live class schedules.</a:t>
            </a:r>
            <a:endParaRPr lang="en-US" dirty="0"/>
          </a:p>
          <a:p>
            <a:pPr lvl="1"/>
            <a:endParaRPr dirty="0"/>
          </a:p>
          <a:p>
            <a:r>
              <a:rPr b="1" dirty="0">
                <a:latin typeface="Aptos"/>
              </a:rPr>
              <a:t>Uncompromised Security:</a:t>
            </a:r>
          </a:p>
          <a:p>
            <a:pPr lvl="1"/>
            <a:r>
              <a:rPr dirty="0">
                <a:latin typeface="Aptos"/>
              </a:rPr>
              <a:t>Advanced anti-spoofing pipeline ensures strict liveness detection.</a:t>
            </a:r>
            <a:endParaRPr lang="en-US" dirty="0"/>
          </a:p>
          <a:p>
            <a:pPr lvl="1"/>
            <a:endParaRPr dirty="0"/>
          </a:p>
          <a:p>
            <a:r>
              <a:rPr b="1" dirty="0">
                <a:latin typeface="Aptos"/>
              </a:rPr>
              <a:t>High Precision Accuracy:</a:t>
            </a:r>
          </a:p>
          <a:p>
            <a:pPr lvl="1"/>
            <a:r>
              <a:rPr dirty="0">
                <a:latin typeface="Aptos"/>
              </a:rPr>
              <a:t>Deep learning-based 128-d face encodings provide highly accurate matches.</a:t>
            </a:r>
            <a:endParaRPr lang="en-US" dirty="0"/>
          </a:p>
          <a:p>
            <a:pPr lvl="1"/>
            <a:endParaRPr dirty="0"/>
          </a:p>
          <a:p>
            <a:r>
              <a:rPr b="1" dirty="0">
                <a:latin typeface="Aptos"/>
              </a:rPr>
              <a:t>Real-Time Analytics</a:t>
            </a:r>
            <a:r>
              <a:rPr dirty="0">
                <a:latin typeface="Aptos"/>
              </a:rPr>
              <a:t>:</a:t>
            </a:r>
          </a:p>
          <a:p>
            <a:pPr lvl="1"/>
            <a:r>
              <a:rPr dirty="0">
                <a:latin typeface="Aptos"/>
              </a:rPr>
              <a:t>Instant, role-based dashboards for students and faculty.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237743"/>
            <a:ext cx="10972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63F"/>
                </a:solidFill>
                <a:latin typeface="Aptos"/>
              </a:defRPr>
            </a:pPr>
            <a:r>
              <a:t>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2691"/>
            <a:ext cx="10972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>
                <a:solidFill>
                  <a:srgbClr val="697480"/>
                </a:solidFill>
                <a:latin typeface="Aptos"/>
              </a:defRPr>
            </a:pPr>
            <a:r>
              <a:t>AttendEase – proposed solution for automated, secure and real-time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1069" y="1233371"/>
            <a:ext cx="10525062" cy="2923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2263F"/>
                </a:solidFill>
                <a:latin typeface="Aptos"/>
              </a:defRPr>
            </a:pPr>
            <a:r>
              <a:rPr lang="en-US" dirty="0"/>
              <a:t>This system </a:t>
            </a:r>
            <a:r>
              <a:rPr dirty="0"/>
              <a:t>replaces manual attendance with a centralized, face-based web system that automates verification and record management.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1855162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86968" y="2057400"/>
            <a:ext cx="411480" cy="411480"/>
          </a:xfrm>
          <a:prstGeom prst="ellipse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2061972"/>
            <a:ext cx="411480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020824"/>
            <a:ext cx="43434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1">
                <a:solidFill>
                  <a:srgbClr val="12263F"/>
                </a:solidFill>
                <a:latin typeface="Aptos"/>
              </a:defRPr>
            </a:pPr>
            <a:r>
              <a:t>Role-Based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686721"/>
            <a:ext cx="4907441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26303A"/>
                </a:solidFill>
                <a:latin typeface="Aptos"/>
              </a:defRPr>
            </a:pPr>
            <a:r>
              <a:t>Admin manages students, faculty, courses, semesters, subjects and scheduled classes through a centralized dashboard.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64807" y="2057400"/>
            <a:ext cx="411480" cy="411480"/>
          </a:xfrm>
          <a:prstGeom prst="ellipse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2061972"/>
            <a:ext cx="411480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59" y="2020824"/>
            <a:ext cx="43434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1">
                <a:solidFill>
                  <a:srgbClr val="12263F"/>
                </a:solidFill>
                <a:latin typeface="Aptos"/>
              </a:defRPr>
            </a:pPr>
            <a:r>
              <a:t>Face-Based 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623154"/>
            <a:ext cx="4507509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26303A"/>
                </a:solidFill>
                <a:latin typeface="Aptos"/>
              </a:defRPr>
            </a:pPr>
            <a:r>
              <a:t>Students register their face once; the system captures and compares facial encodings during an attendance session.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8200" y="3528416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86968" y="3749039"/>
            <a:ext cx="411480" cy="411480"/>
          </a:xfrm>
          <a:prstGeom prst="ellipse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753611"/>
            <a:ext cx="411480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712463"/>
            <a:ext cx="43434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1">
                <a:solidFill>
                  <a:srgbClr val="12263F"/>
                </a:solidFill>
                <a:latin typeface="Aptos"/>
              </a:defRPr>
            </a:pPr>
            <a:r>
              <a:t>Automated Attendance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364212"/>
            <a:ext cx="4605327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26303A"/>
                </a:solidFill>
                <a:latin typeface="Aptos"/>
              </a:defRPr>
            </a:pPr>
            <a:r>
              <a:t>Faculty starts the active class session and successful face verification records attendance with time and confidence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56616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64807" y="3749039"/>
            <a:ext cx="411480" cy="411480"/>
          </a:xfrm>
          <a:prstGeom prst="ellipse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64807" y="3753611"/>
            <a:ext cx="411480" cy="3931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59" y="3712463"/>
            <a:ext cx="43434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1">
                <a:solidFill>
                  <a:srgbClr val="12263F"/>
                </a:solidFill>
                <a:latin typeface="Aptos"/>
              </a:defRPr>
            </a:pPr>
            <a:r>
              <a:t>Real-Time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4367376"/>
            <a:ext cx="4507509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26303A"/>
                </a:solidFill>
                <a:latin typeface="Aptos"/>
              </a:defRPr>
            </a:pPr>
            <a:r>
              <a:t>Faculty and students can view attendance information, while the database maintains accurate and centralized records.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2" y="5350730"/>
            <a:ext cx="1083564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458968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F5C91"/>
                </a:solidFill>
                <a:latin typeface="Aptos"/>
              </a:defRPr>
            </a:pPr>
            <a:r>
              <a:t>Core Technologies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5458968"/>
            <a:ext cx="81381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50" b="0">
                <a:solidFill>
                  <a:srgbClr val="26303A"/>
                </a:solidFill>
                <a:latin typeface="Aptos"/>
              </a:defRPr>
            </a:pPr>
            <a:r>
              <a:t>Flask  •  MySQL  •  OpenCV  •  face_recognition / dlib  •  HTML/CSS/Bootstrap  •  JavaScript/AJAX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2037" y="2740747"/>
            <a:ext cx="8229600" cy="1143000"/>
          </a:xfrm>
        </p:spPr>
        <p:txBody>
          <a:bodyPr>
            <a:normAutofit fontScale="90000"/>
          </a:bodyPr>
          <a:lstStyle/>
          <a:p>
            <a:r>
              <a:rPr sz="6600" b="1" dirty="0">
                <a:latin typeface="Aptos"/>
              </a:rPr>
              <a:t>System Flow</a:t>
            </a:r>
            <a:r>
              <a:rPr lang="en-US" sz="6600" b="1" dirty="0">
                <a:latin typeface="Aptos"/>
              </a:rPr>
              <a:t> Diagram</a:t>
            </a:r>
            <a:endParaRPr sz="6600" b="1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152400"/>
            <a:ext cx="9884569" cy="6497782"/>
          </a:xfrm>
          <a:prstGeom prst="rect">
            <a:avLst/>
          </a:prstGeom>
        </p:spPr>
      </p:pic>
      <p:sp>
        <p:nvSpPr>
          <p:cNvPr id="50" name="Rectangle 49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134DC-95C2-3673-8623-BDEBA024F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972" y="2678907"/>
            <a:ext cx="9594056" cy="2678906"/>
          </a:xfrm>
        </p:spPr>
        <p:txBody>
          <a:bodyPr>
            <a:noAutofit/>
          </a:bodyPr>
          <a:lstStyle/>
          <a:p>
            <a:pPr algn="ctr"/>
            <a:r>
              <a:rPr lang="en-US" sz="6000" b="1" dirty="0"/>
              <a:t>Data Dictionary </a:t>
            </a:r>
          </a:p>
        </p:txBody>
      </p:sp>
    </p:spTree>
    <p:extLst>
      <p:ext uri="{BB962C8B-B14F-4D97-AF65-F5344CB8AC3E}">
        <p14:creationId xmlns:p14="http://schemas.microsoft.com/office/powerpoint/2010/main" val="2714607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6892" y="80514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  <a:latin typeface="Aptos"/>
              </a:defRPr>
            </a:pPr>
            <a:r>
              <a:rPr sz="2400" b="1">
                <a:solidFill>
                  <a:srgbClr val="12263F"/>
                </a:solidFill>
                <a:latin typeface="Aptos Display"/>
              </a:rPr>
              <a:t>Table: roles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9356094"/>
              </p:ext>
            </p:extLst>
          </p:nvPr>
        </p:nvGraphicFramePr>
        <p:xfrm>
          <a:off x="1796892" y="1372077"/>
          <a:ext cx="9454515" cy="48458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3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2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87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15281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528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rPr dirty="0" err="1"/>
                        <a:t>role_id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rPr dirty="0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rPr lang="en-US" dirty="0"/>
                        <a:t>Unique role ID (PK)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528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role_name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VARCHAR(100)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rPr dirty="0"/>
                        <a:t>Admin / Faculty / Student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641052" y="7498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  <a:latin typeface="Aptos"/>
              </a:defRPr>
            </a:pPr>
            <a:r>
              <a:rPr sz="2400" b="1">
                <a:solidFill>
                  <a:srgbClr val="12263F"/>
                </a:solidFill>
                <a:latin typeface="Aptos Display"/>
              </a:rPr>
              <a:t>Table: users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474154"/>
              </p:ext>
            </p:extLst>
          </p:nvPr>
        </p:nvGraphicFramePr>
        <p:xfrm>
          <a:off x="1382554" y="1284732"/>
          <a:ext cx="10276046" cy="4965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9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9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7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1688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6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user_id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Unique user ID (PK)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6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role_id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User role (FK)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6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full_name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VARCHAR(100)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User's full 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6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email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VARCHAR(50)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Login email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6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password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VARCHAR(255)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Hashed password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16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profile_img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VARCHAR(100)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Profile image path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16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Account 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16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created_at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TIMESTAMP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rPr dirty="0"/>
                        <a:t>Account creation time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99235" y="7910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  <a:latin typeface="Aptos"/>
              </a:defRPr>
            </a:pPr>
            <a:r>
              <a:rPr sz="2400" b="1">
                <a:solidFill>
                  <a:srgbClr val="12263F"/>
                </a:solidFill>
                <a:latin typeface="Aptos Display"/>
              </a:rPr>
              <a:t>Table: students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037022"/>
              </p:ext>
            </p:extLst>
          </p:nvPr>
        </p:nvGraphicFramePr>
        <p:xfrm>
          <a:off x="1499235" y="1417320"/>
          <a:ext cx="9918860" cy="4512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9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1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38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2078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Data Type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07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student_id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Unique student ID (PK)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207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user_id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Linked user ID (FK)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207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course_id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Student course (FK)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207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semester_id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Student semester (FK)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207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face_registered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TINYINT(1)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dirty="0"/>
                        <a:t>Face registration 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07832" y="76771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  <a:latin typeface="Aptos"/>
              </a:defRPr>
            </a:pPr>
            <a:r>
              <a:rPr sz="2400" b="1">
                <a:solidFill>
                  <a:srgbClr val="12263F"/>
                </a:solidFill>
                <a:latin typeface="Aptos Display"/>
              </a:rPr>
              <a:t>Table: faculty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134794"/>
              </p:ext>
            </p:extLst>
          </p:nvPr>
        </p:nvGraphicFramePr>
        <p:xfrm>
          <a:off x="1707832" y="1238250"/>
          <a:ext cx="9859328" cy="4714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48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04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78719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Data Type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871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faculty_id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Unique faculty ID (PK)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871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user_id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Linked user ID (FK)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871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designation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VARCHAR(100)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dirty="0"/>
                        <a:t>Faculty designation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15262" y="797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  <a:latin typeface="Aptos"/>
              </a:defRPr>
            </a:pPr>
            <a:r>
              <a:rPr sz="2400" b="1">
                <a:solidFill>
                  <a:srgbClr val="12263F"/>
                </a:solidFill>
                <a:latin typeface="Aptos Display"/>
              </a:rPr>
              <a:t>Table: courses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128799"/>
              </p:ext>
            </p:extLst>
          </p:nvPr>
        </p:nvGraphicFramePr>
        <p:xfrm>
          <a:off x="1715262" y="1417320"/>
          <a:ext cx="9787890" cy="464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6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6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4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60860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Data Type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08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course_id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Unique course ID (PK)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08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course_name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VARCHAR(100)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Course name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08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course_code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VARCHAR(20)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dirty="0"/>
                        <a:t>Unique course 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82579" y="797241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  <a:latin typeface="Aptos"/>
              </a:defRPr>
            </a:pPr>
            <a:r>
              <a:rPr sz="2400" b="1">
                <a:solidFill>
                  <a:srgbClr val="12263F"/>
                </a:solidFill>
                <a:latin typeface="Aptos Display"/>
              </a:rPr>
              <a:t>Table: semesters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513812"/>
              </p:ext>
            </p:extLst>
          </p:nvPr>
        </p:nvGraphicFramePr>
        <p:xfrm>
          <a:off x="1582579" y="1417320"/>
          <a:ext cx="9561672" cy="4643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04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2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47813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Data Type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7813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semester_id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Unique semester ID (PK)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7813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semester_name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VARCHAR(30)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dirty="0"/>
                        <a:t>Semester name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63517" y="821053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  <a:latin typeface="Aptos"/>
              </a:defRPr>
            </a:pPr>
            <a:r>
              <a:rPr sz="2400" b="1">
                <a:solidFill>
                  <a:srgbClr val="12263F"/>
                </a:solidFill>
                <a:latin typeface="Aptos Display"/>
              </a:rPr>
              <a:t>Table: subjects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742758"/>
              </p:ext>
            </p:extLst>
          </p:nvPr>
        </p:nvGraphicFramePr>
        <p:xfrm>
          <a:off x="1463517" y="1417320"/>
          <a:ext cx="9883141" cy="46196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0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42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8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9946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Data Type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94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subject_id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Unique subject ID (PK)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994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course_id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Linked course (FK)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994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semester_id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Linked semester (FK)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994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faculty_id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Assigned faculty (FK)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994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subject_name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VARCHAR(100)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Subject name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9951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subject_code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VARCHAR(20)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dirty="0"/>
                        <a:t>Unique subject code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630203" y="9220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  <a:latin typeface="Aptos"/>
              </a:defRPr>
            </a:pPr>
            <a:r>
              <a:rPr sz="2400" b="1">
                <a:solidFill>
                  <a:srgbClr val="12263F"/>
                </a:solidFill>
                <a:latin typeface="Aptos Display"/>
              </a:rPr>
              <a:t>Table: face_data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074478"/>
              </p:ext>
            </p:extLst>
          </p:nvPr>
        </p:nvGraphicFramePr>
        <p:xfrm>
          <a:off x="1630203" y="1417320"/>
          <a:ext cx="969264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7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17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6300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Data Type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face_id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Unique face record ID (PK)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student_id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Linked student (FK)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image_path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VARCHAR(255)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Registered face image path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face_encoding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MEDIUMTEXT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dirty="0"/>
                        <a:t>Stored facial encoding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70946" y="6781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  <a:latin typeface="Aptos"/>
              </a:defRPr>
            </a:pPr>
            <a:r>
              <a:rPr sz="2400" b="1">
                <a:solidFill>
                  <a:srgbClr val="12263F"/>
                </a:solidFill>
                <a:latin typeface="Aptos Display"/>
              </a:rPr>
              <a:t>Table: classes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968878"/>
              </p:ext>
            </p:extLst>
          </p:nvPr>
        </p:nvGraphicFramePr>
        <p:xfrm>
          <a:off x="1570672" y="1250156"/>
          <a:ext cx="9514046" cy="473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8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3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12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2336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Data Type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33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class_id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Unique class ID (PK)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33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subject_id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Class subject (FK)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33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faculty_id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Class faculty (FK)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33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class_date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Date of class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233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start_time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Class start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233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end_time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TIME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Class end time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233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attendance_started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TINYINT(1)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dirty="0"/>
                        <a:t>Attendance session 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03082" y="690085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  <a:latin typeface="Aptos"/>
              </a:defRPr>
            </a:pPr>
            <a:r>
              <a:rPr sz="2400" b="1">
                <a:solidFill>
                  <a:srgbClr val="12263F"/>
                </a:solidFill>
                <a:latin typeface="Aptos Display"/>
              </a:rPr>
              <a:t>Table: attendance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638802"/>
              </p:ext>
            </p:extLst>
          </p:nvPr>
        </p:nvGraphicFramePr>
        <p:xfrm>
          <a:off x="1803082" y="1285875"/>
          <a:ext cx="9764078" cy="460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1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1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51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245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Data Type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24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attendance_id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Unique attendance ID (PK)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24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class_id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Related class (FK)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24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student_id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Student (FK)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24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attendance_time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DATETIME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Attendance time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24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VARCHAR(10)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Present / Absent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25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confidence_score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DECIMAL(5,2)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dirty="0"/>
                        <a:t>Face-match confidence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667637" y="713803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  <a:latin typeface="Aptos"/>
              </a:defRPr>
            </a:pPr>
            <a:r>
              <a:rPr sz="2400" b="1">
                <a:solidFill>
                  <a:srgbClr val="12263F"/>
                </a:solidFill>
                <a:latin typeface="Aptos Display"/>
              </a:rPr>
              <a:t>Table: feedback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828716"/>
              </p:ext>
            </p:extLst>
          </p:nvPr>
        </p:nvGraphicFramePr>
        <p:xfrm>
          <a:off x="1667637" y="1286160"/>
          <a:ext cx="9835515" cy="4822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8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91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3672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Data Type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67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feedback_id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Unique feedback ID (PK)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67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name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VARCHAR(50)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Sender's name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367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email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VARCHAR(50)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Sender's email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367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subject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VARCHAR(100)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Feedback subject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367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message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dirty="0"/>
                        <a:t>Feedback message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510A6-796D-0060-C080-8C41CDA52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2531269"/>
            <a:ext cx="10010775" cy="1969294"/>
          </a:xfrm>
        </p:spPr>
        <p:txBody>
          <a:bodyPr anchor="ctr">
            <a:normAutofit/>
          </a:bodyPr>
          <a:lstStyle/>
          <a:p>
            <a:pPr algn="ctr"/>
            <a:r>
              <a:rPr lang="en-US" sz="6000" b="1"/>
              <a:t>Use Case Diagram </a:t>
            </a:r>
          </a:p>
        </p:txBody>
      </p:sp>
    </p:spTree>
    <p:extLst>
      <p:ext uri="{BB962C8B-B14F-4D97-AF65-F5344CB8AC3E}">
        <p14:creationId xmlns:p14="http://schemas.microsoft.com/office/powerpoint/2010/main" val="3091624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975F82-1361-A0C5-9D9A-1A29C0AF2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767" y="196453"/>
            <a:ext cx="10697766" cy="6465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5297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9824" y="3126010"/>
            <a:ext cx="8911687" cy="1280890"/>
          </a:xfrm>
        </p:spPr>
        <p:txBody>
          <a:bodyPr>
            <a:noAutofit/>
          </a:bodyPr>
          <a:lstStyle/>
          <a:p>
            <a:pPr algn="ctr"/>
            <a:r>
              <a:rPr lang="en-US" sz="8000" dirty="0">
                <a:latin typeface="Aptos"/>
              </a:rPr>
              <a:t>THANK YOU</a:t>
            </a:r>
            <a:endParaRPr lang="en-IN" sz="800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129931522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025" id="{F9915BBD-9749-466F-995C-8C8D6A938EC0}" vid="{CF1D1A65-FC75-42D2-B7EF-D2991382DC6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46</TotalTime>
  <Words>254</Words>
  <Application>Microsoft Office PowerPoint</Application>
  <PresentationFormat>Widescreen</PresentationFormat>
  <Paragraphs>51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Crop</vt:lpstr>
      <vt:lpstr>Smart Attendance System</vt:lpstr>
      <vt:lpstr>Introduction</vt:lpstr>
      <vt:lpstr>Existing System</vt:lpstr>
      <vt:lpstr>Problem Areas of Existing System</vt:lpstr>
      <vt:lpstr>Need for the New System</vt:lpstr>
      <vt:lpstr>PowerPoint Presentation</vt:lpstr>
      <vt:lpstr>System Flow Diagram</vt:lpstr>
      <vt:lpstr>PowerPoint Presentation</vt:lpstr>
      <vt:lpstr>Data Dictionary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 Case Diagram 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Attendance System</dc:title>
  <dc:subject/>
  <dc:creator>Ashish Vaghasiya</dc:creator>
  <cp:keywords/>
  <dc:description>generated using python-pptx</dc:description>
  <cp:lastModifiedBy>Ashish Vaghasiya</cp:lastModifiedBy>
  <cp:revision>13</cp:revision>
  <dcterms:created xsi:type="dcterms:W3CDTF">2013-01-27T09:14:16Z</dcterms:created>
  <dcterms:modified xsi:type="dcterms:W3CDTF">2026-08-30T12:17:29Z</dcterms:modified>
  <cp:category/>
</cp:coreProperties>
</file>